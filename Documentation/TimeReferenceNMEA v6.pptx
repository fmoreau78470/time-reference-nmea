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17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430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53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smtClean="0">
                <a:solidFill>
                  <a:srgbClr val="64748B"/>
                </a:solidFill>
              </a:rPr>
              <a:t>Note du </a:t>
            </a:r>
            <a:r>
              <a:rPr lang="en-US" sz="1200" i="1" dirty="0" err="1" smtClean="0">
                <a:solidFill>
                  <a:srgbClr val="64748B"/>
                </a:solidFill>
              </a:rPr>
              <a:t>présentateur</a:t>
            </a:r>
            <a:r>
              <a:rPr lang="en-US" sz="1200" i="1" dirty="0" smtClean="0">
                <a:solidFill>
                  <a:srgbClr val="64748B"/>
                </a:solidFill>
              </a:rPr>
              <a:t> : demander au public </a:t>
            </a:r>
            <a:r>
              <a:rPr lang="en-US" sz="1200" i="1" dirty="0" err="1" smtClean="0">
                <a:solidFill>
                  <a:srgbClr val="64748B"/>
                </a:solidFill>
              </a:rPr>
              <a:t>combien</a:t>
            </a:r>
            <a:r>
              <a:rPr lang="en-US" sz="1200" i="1" dirty="0" smtClean="0">
                <a:solidFill>
                  <a:srgbClr val="64748B"/>
                </a:solidFill>
              </a:rPr>
              <a:t> de </a:t>
            </a:r>
            <a:r>
              <a:rPr lang="en-US" sz="1200" i="1" dirty="0" err="1" smtClean="0">
                <a:solidFill>
                  <a:srgbClr val="64748B"/>
                </a:solidFill>
              </a:rPr>
              <a:t>ms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d'erreur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ils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jugent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acceptables</a:t>
            </a:r>
            <a:r>
              <a:rPr lang="en-US" sz="1200" i="1" dirty="0" smtClean="0">
                <a:solidFill>
                  <a:srgbClr val="64748B"/>
                </a:solidFill>
              </a:rPr>
              <a:t> pour </a:t>
            </a:r>
            <a:r>
              <a:rPr lang="en-US" sz="1200" i="1" dirty="0" err="1" smtClean="0">
                <a:solidFill>
                  <a:srgbClr val="64748B"/>
                </a:solidFill>
              </a:rPr>
              <a:t>horodater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une</a:t>
            </a:r>
            <a:r>
              <a:rPr lang="en-US" sz="1200" i="1" dirty="0" smtClean="0">
                <a:solidFill>
                  <a:srgbClr val="64748B"/>
                </a:solidFill>
              </a:rPr>
              <a:t> occultation — </a:t>
            </a:r>
            <a:r>
              <a:rPr lang="en-US" sz="1200" i="1" dirty="0" err="1" smtClean="0">
                <a:solidFill>
                  <a:srgbClr val="64748B"/>
                </a:solidFill>
              </a:rPr>
              <a:t>crée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l'engagement</a:t>
            </a:r>
            <a:r>
              <a:rPr lang="en-US" sz="1200" i="1" dirty="0" smtClean="0">
                <a:solidFill>
                  <a:srgbClr val="64748B"/>
                </a:solidFill>
              </a:rPr>
              <a:t>.</a:t>
            </a:r>
            <a:endParaRPr lang="en-US" sz="1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err="1" smtClean="0">
                <a:solidFill>
                  <a:srgbClr val="64748B"/>
                </a:solidFill>
              </a:rPr>
              <a:t>Analogie</a:t>
            </a:r>
            <a:r>
              <a:rPr lang="en-US" sz="1200" i="1" dirty="0" smtClean="0">
                <a:solidFill>
                  <a:srgbClr val="64748B"/>
                </a:solidFill>
              </a:rPr>
              <a:t> : </a:t>
            </a:r>
            <a:r>
              <a:rPr lang="en-US" sz="1200" i="1" dirty="0" err="1" smtClean="0">
                <a:solidFill>
                  <a:srgbClr val="64748B"/>
                </a:solidFill>
              </a:rPr>
              <a:t>trianguler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sa</a:t>
            </a:r>
            <a:r>
              <a:rPr lang="en-US" sz="1200" i="1" dirty="0" smtClean="0">
                <a:solidFill>
                  <a:srgbClr val="64748B"/>
                </a:solidFill>
              </a:rPr>
              <a:t> position avec </a:t>
            </a:r>
            <a:r>
              <a:rPr lang="en-US" sz="1200" i="1" dirty="0" err="1" smtClean="0">
                <a:solidFill>
                  <a:srgbClr val="64748B"/>
                </a:solidFill>
              </a:rPr>
              <a:t>plusieurs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étoiles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plutôt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qu'une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seule</a:t>
            </a:r>
            <a:r>
              <a:rPr lang="en-US" sz="1200" i="1" dirty="0" smtClean="0">
                <a:solidFill>
                  <a:srgbClr val="64748B"/>
                </a:solidFill>
              </a:rPr>
              <a:t> — </a:t>
            </a:r>
            <a:r>
              <a:rPr lang="en-US" sz="1200" i="1" dirty="0" err="1" smtClean="0">
                <a:solidFill>
                  <a:srgbClr val="64748B"/>
                </a:solidFill>
              </a:rPr>
              <a:t>si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l'une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est</a:t>
            </a:r>
            <a:r>
              <a:rPr lang="en-US" sz="1200" i="1" dirty="0" smtClean="0">
                <a:solidFill>
                  <a:srgbClr val="64748B"/>
                </a:solidFill>
              </a:rPr>
              <a:t> derrière un </a:t>
            </a:r>
            <a:r>
              <a:rPr lang="en-US" sz="1200" i="1" dirty="0" err="1" smtClean="0">
                <a:solidFill>
                  <a:srgbClr val="64748B"/>
                </a:solidFill>
              </a:rPr>
              <a:t>nuage</a:t>
            </a:r>
            <a:r>
              <a:rPr lang="en-US" sz="1200" i="1" dirty="0" smtClean="0">
                <a:solidFill>
                  <a:srgbClr val="64748B"/>
                </a:solidFill>
              </a:rPr>
              <a:t>, les </a:t>
            </a:r>
            <a:r>
              <a:rPr lang="en-US" sz="1200" i="1" dirty="0" err="1" smtClean="0">
                <a:solidFill>
                  <a:srgbClr val="64748B"/>
                </a:solidFill>
              </a:rPr>
              <a:t>autres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suffisent</a:t>
            </a:r>
            <a:r>
              <a:rPr lang="en-US" sz="1200" i="1" dirty="0" smtClean="0">
                <a:solidFill>
                  <a:srgbClr val="64748B"/>
                </a:solidFill>
              </a:rPr>
              <a:t>.</a:t>
            </a:r>
            <a:endParaRPr lang="en-US" sz="1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err="1" smtClean="0">
                <a:solidFill>
                  <a:srgbClr val="64748B"/>
                </a:solidFill>
              </a:rPr>
              <a:t>Montrer</a:t>
            </a:r>
            <a:r>
              <a:rPr lang="en-US" sz="1200" i="1" dirty="0" smtClean="0">
                <a:solidFill>
                  <a:srgbClr val="64748B"/>
                </a:solidFill>
              </a:rPr>
              <a:t> le module physique </a:t>
            </a:r>
            <a:r>
              <a:rPr lang="en-US" sz="1200" i="1" dirty="0" err="1" smtClean="0">
                <a:solidFill>
                  <a:srgbClr val="64748B"/>
                </a:solidFill>
              </a:rPr>
              <a:t>ici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si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disponible</a:t>
            </a:r>
            <a:r>
              <a:rPr lang="en-US" sz="1200" i="1" dirty="0" smtClean="0">
                <a:solidFill>
                  <a:srgbClr val="64748B"/>
                </a:solidFill>
              </a:rPr>
              <a:t> — </a:t>
            </a:r>
            <a:r>
              <a:rPr lang="en-US" sz="1200" i="1" dirty="0" err="1" smtClean="0">
                <a:solidFill>
                  <a:srgbClr val="64748B"/>
                </a:solidFill>
              </a:rPr>
              <a:t>c'est</a:t>
            </a:r>
            <a:r>
              <a:rPr lang="en-US" sz="1200" i="1" dirty="0" smtClean="0">
                <a:solidFill>
                  <a:srgbClr val="64748B"/>
                </a:solidFill>
              </a:rPr>
              <a:t> le </a:t>
            </a:r>
            <a:r>
              <a:rPr lang="en-US" sz="1200" i="1" dirty="0" err="1" smtClean="0">
                <a:solidFill>
                  <a:srgbClr val="64748B"/>
                </a:solidFill>
              </a:rPr>
              <a:t>meilleur</a:t>
            </a:r>
            <a:r>
              <a:rPr lang="en-US" sz="1200" i="1" dirty="0" smtClean="0">
                <a:solidFill>
                  <a:srgbClr val="64748B"/>
                </a:solidFill>
              </a:rPr>
              <a:t> argument.</a:t>
            </a:r>
            <a:endParaRPr lang="en-US" sz="1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smtClean="0">
                <a:solidFill>
                  <a:srgbClr val="64748B"/>
                </a:solidFill>
              </a:rPr>
              <a:t>Point </a:t>
            </a:r>
            <a:r>
              <a:rPr lang="en-US" sz="1200" i="1" dirty="0" err="1" smtClean="0">
                <a:solidFill>
                  <a:srgbClr val="64748B"/>
                </a:solidFill>
              </a:rPr>
              <a:t>clé</a:t>
            </a:r>
            <a:r>
              <a:rPr lang="en-US" sz="1200" i="1" dirty="0" smtClean="0">
                <a:solidFill>
                  <a:srgbClr val="64748B"/>
                </a:solidFill>
              </a:rPr>
              <a:t> : </a:t>
            </a:r>
            <a:r>
              <a:rPr lang="en-US" sz="1200" i="1" dirty="0" err="1" smtClean="0">
                <a:solidFill>
                  <a:srgbClr val="64748B"/>
                </a:solidFill>
              </a:rPr>
              <a:t>l'appli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orchestre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Meinberg</a:t>
            </a:r>
            <a:r>
              <a:rPr lang="en-US" sz="1200" i="1" dirty="0" smtClean="0">
                <a:solidFill>
                  <a:srgbClr val="64748B"/>
                </a:solidFill>
              </a:rPr>
              <a:t> (le </a:t>
            </a:r>
            <a:r>
              <a:rPr lang="en-US" sz="1200" i="1" dirty="0" err="1" smtClean="0">
                <a:solidFill>
                  <a:srgbClr val="64748B"/>
                </a:solidFill>
              </a:rPr>
              <a:t>vrai</a:t>
            </a:r>
            <a:r>
              <a:rPr lang="en-US" sz="1200" i="1" dirty="0" smtClean="0">
                <a:solidFill>
                  <a:srgbClr val="64748B"/>
                </a:solidFill>
              </a:rPr>
              <a:t> </a:t>
            </a:r>
            <a:r>
              <a:rPr lang="en-US" sz="1200" i="1" dirty="0" err="1" smtClean="0">
                <a:solidFill>
                  <a:srgbClr val="64748B"/>
                </a:solidFill>
              </a:rPr>
              <a:t>moteur</a:t>
            </a:r>
            <a:r>
              <a:rPr lang="en-US" sz="1200" i="1" dirty="0" smtClean="0">
                <a:solidFill>
                  <a:srgbClr val="64748B"/>
                </a:solidFill>
              </a:rPr>
              <a:t> NTP) — </a:t>
            </a:r>
            <a:r>
              <a:rPr lang="en-US" sz="1200" i="1" dirty="0" err="1" smtClean="0">
                <a:solidFill>
                  <a:srgbClr val="64748B"/>
                </a:solidFill>
              </a:rPr>
              <a:t>elle</a:t>
            </a:r>
            <a:r>
              <a:rPr lang="en-US" sz="1200" i="1" dirty="0" smtClean="0">
                <a:solidFill>
                  <a:srgbClr val="64748B"/>
                </a:solidFill>
              </a:rPr>
              <a:t> fait tout le travail </a:t>
            </a:r>
            <a:r>
              <a:rPr lang="en-US" sz="1200" i="1" dirty="0" err="1" smtClean="0">
                <a:solidFill>
                  <a:srgbClr val="64748B"/>
                </a:solidFill>
              </a:rPr>
              <a:t>complexe</a:t>
            </a:r>
            <a:r>
              <a:rPr lang="en-US" sz="1200" i="1" dirty="0" smtClean="0">
                <a:solidFill>
                  <a:srgbClr val="64748B"/>
                </a:solidFill>
              </a:rPr>
              <a:t> à la place de </a:t>
            </a:r>
            <a:r>
              <a:rPr lang="en-US" sz="1200" i="1" dirty="0" err="1" smtClean="0">
                <a:solidFill>
                  <a:srgbClr val="64748B"/>
                </a:solidFill>
              </a:rPr>
              <a:t>l'utilisateur</a:t>
            </a:r>
            <a:r>
              <a:rPr lang="en-US" sz="1200" i="1" dirty="0" smtClean="0">
                <a:solidFill>
                  <a:srgbClr val="64748B"/>
                </a:solidFill>
              </a:rPr>
              <a:t>.</a:t>
            </a:r>
            <a:endParaRPr lang="en-US" sz="1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0CC"/>
                </a:solidFill>
              </a:rPr>
              <a:t>ASTRONOMIE · OCCULTATIONS STELLAIRES · OPEN SOURCE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463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Reference NMEA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E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Construisez votre référence de temps GPS de précision pour moins de 20 €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0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4112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54112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10144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0144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2208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2208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22208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1148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A7A4A">
              <a:alpha val="75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148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GPS + PPS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41148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A6FB5">
              <a:alpha val="75000"/>
            </a:srgbClr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41148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Stratum 1 local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B87C0F">
              <a:alpha val="75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41148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 1 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41148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534AB7">
              <a:alpha val="75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1148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Hors-ligne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B87C0F">
              <a:alpha val="8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l'heure est critique en astronomie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occultation stellaire, c'est une question de millisecondes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0200"/>
            <a:ext cx="4023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6002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L'événement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002536"/>
            <a:ext cx="3822192" cy="133502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Durée typique : 0,1 — 5 secondes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Profil de lumière → taille et forme de l'astéroïde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Précision requise : ≤ 10 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Souvent en plein champ, sans Internet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4343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600200"/>
            <a:ext cx="4343400" cy="347472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600200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 problème du NTP classique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0288" y="2002536"/>
            <a:ext cx="4142232" cy="133502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NTP via Internet : jitter 10 — 100 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Latence variable et imprévisible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Impossible hors connexion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W32Time (Windows) : précision ~1 seconde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8503920" cy="566928"/>
          </a:xfrm>
          <a:prstGeom prst="rect">
            <a:avLst/>
          </a:prstGeom>
          <a:solidFill>
            <a:srgbClr val="D8F0E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66160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</a:rPr>
              <a:t>Solution : </a:t>
            </a:r>
            <a:r>
              <a:rPr lang="en-US" sz="1200" dirty="0">
                <a:solidFill>
                  <a:srgbClr val="1E293B"/>
                </a:solidFill>
              </a:rPr>
              <a:t>source GPS locale + signal PPS → Stratum 1 autonome, précision &lt; 1 ms, 100 % hors-ligne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25196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A7A4A">
              <a:alpha val="8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PROTOCOLE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NMEA 0183 — le langage universel du GPS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National Marine Electronics Association · standard depuis 1983 · adopté par tous les récepteurs GPS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4023360" cy="127244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17320"/>
            <a:ext cx="4023360" cy="347472"/>
          </a:xfrm>
          <a:prstGeom prst="rect">
            <a:avLst/>
          </a:prstGeom>
          <a:solidFill>
            <a:srgbClr val="0E6E75"/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4173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 que c'est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819656"/>
            <a:ext cx="3822192" cy="1380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Protocole texte ASCII en RS-232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Débit : 4 800 ou 9 600 bauds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Une trame = une ligne lisible à l'œil nu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Émis toutes les secondes par le GPS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0288" y="1417320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Où on le retrouve en astro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903873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Anatomie de la trame $GPRMC 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" y="3218688"/>
            <a:ext cx="10332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" y="3218688"/>
            <a:ext cx="1033272" cy="256032"/>
          </a:xfrm>
          <a:prstGeom prst="rect">
            <a:avLst/>
          </a:prstGeom>
          <a:solidFill>
            <a:srgbClr val="0E6E75">
              <a:alpha val="85000"/>
            </a:srgbClr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3218688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" y="3483864"/>
            <a:ext cx="10332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Début/Talker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53312" y="3218688"/>
            <a:ext cx="10332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53312" y="3218688"/>
            <a:ext cx="1033272" cy="256032"/>
          </a:xfrm>
          <a:prstGeom prst="rect">
            <a:avLst/>
          </a:prstGeom>
          <a:solidFill>
            <a:srgbClr val="0F6E56">
              <a:alpha val="85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3312" y="3218688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483864"/>
            <a:ext cx="10332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Type trame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04872" y="3218688"/>
            <a:ext cx="10332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04872" y="3218688"/>
            <a:ext cx="1033272" cy="256032"/>
          </a:xfrm>
          <a:prstGeom prst="rect">
            <a:avLst/>
          </a:prstGeom>
          <a:solidFill>
            <a:srgbClr val="534AB7">
              <a:alpha val="85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4872" y="3218688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143512.00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04872" y="3483864"/>
            <a:ext cx="10332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Heure UTC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56432" y="3218688"/>
            <a:ext cx="10332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6432" y="3218688"/>
            <a:ext cx="1033272" cy="256032"/>
          </a:xfrm>
          <a:prstGeom prst="rect">
            <a:avLst/>
          </a:prstGeom>
          <a:solidFill>
            <a:srgbClr val="1A6FB5">
              <a:alpha val="85000"/>
            </a:srgbClr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3218688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56432" y="3483864"/>
            <a:ext cx="10332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Fix OK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07992" y="3218688"/>
            <a:ext cx="10332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7992" y="3218688"/>
            <a:ext cx="1033272" cy="256032"/>
          </a:xfrm>
          <a:prstGeom prst="rect">
            <a:avLst/>
          </a:prstGeom>
          <a:solidFill>
            <a:srgbClr val="B87C0F">
              <a:alpha val="85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3218688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4352.1N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07992" y="3483864"/>
            <a:ext cx="10332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Latitude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59552" y="3218688"/>
            <a:ext cx="10332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59552" y="3218688"/>
            <a:ext cx="1033272" cy="256032"/>
          </a:xfrm>
          <a:prstGeom prst="rect">
            <a:avLst/>
          </a:prstGeom>
          <a:solidFill>
            <a:srgbClr val="B87C0F">
              <a:alpha val="85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3218688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00342.4E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59552" y="3483864"/>
            <a:ext cx="10332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Longitude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611112" y="3218688"/>
            <a:ext cx="10332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11112" y="3218688"/>
            <a:ext cx="1033272" cy="256032"/>
          </a:xfrm>
          <a:prstGeom prst="rect">
            <a:avLst/>
          </a:prstGeom>
          <a:solidFill>
            <a:srgbClr val="534AB7">
              <a:alpha val="85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1112" y="3218688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040626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11112" y="3483864"/>
            <a:ext cx="10332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Date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662672" y="3218688"/>
            <a:ext cx="10332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62672" y="3218688"/>
            <a:ext cx="1033272" cy="256032"/>
          </a:xfrm>
          <a:prstGeom prst="rect">
            <a:avLst/>
          </a:prstGeom>
          <a:solidFill>
            <a:srgbClr val="A32D2D">
              <a:alpha val="85000"/>
            </a:srgbClr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62672" y="3218688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*6A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662672" y="3483864"/>
            <a:ext cx="10332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Checksum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01752" y="3794760"/>
            <a:ext cx="8503920" cy="502920"/>
          </a:xfrm>
          <a:prstGeom prst="rect">
            <a:avLst/>
          </a:prstGeom>
          <a:solidFill>
            <a:srgbClr val="FDF0CC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37947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C0F"/>
                </a:solidFill>
              </a:rPr>
              <a:t>Limite : </a:t>
            </a:r>
            <a:r>
              <a:rPr lang="en-US" sz="1100" dirty="0">
                <a:solidFill>
                  <a:srgbClr val="1E293B"/>
                </a:solidFill>
              </a:rPr>
              <a:t>NMEA arrive 100 – 400 ms après la seconde exacte → insuffisant seul.  </a:t>
            </a:r>
            <a:r>
              <a:rPr lang="en-US" sz="1100" b="1" dirty="0">
                <a:solidFill>
                  <a:srgbClr val="0D1B2A"/>
                </a:solidFill>
              </a:rPr>
              <a:t>Solution : signal PPS (1 impulsion/s, précision &lt; 1 µs) combiné avec NMEA.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A6FB5">
              <a:alpha val="80000"/>
            </a:srgbClr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PROTOCOLE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— auto-compensation des délais et multi-sources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Inventé en 1985 par David Mills · RFC 5905 (v4) · protocole de synchronisation le plus répandu au monde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L'idée clé : mesurer le délai aller-retour pour le soustraire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1280160" cy="420624"/>
          </a:xfrm>
          <a:prstGeom prst="roundRect">
            <a:avLst>
              <a:gd name="adj" fmla="val 13043"/>
            </a:avLst>
          </a:prstGeom>
          <a:solidFill>
            <a:srgbClr val="CADEE8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19072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FB5"/>
                </a:solidFill>
              </a:rPr>
              <a:t>Client NTP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719072"/>
            <a:ext cx="1280160" cy="420624"/>
          </a:xfrm>
          <a:prstGeom prst="roundRect">
            <a:avLst>
              <a:gd name="adj" fmla="val 13043"/>
            </a:avLst>
          </a:prstGeom>
          <a:solidFill>
            <a:srgbClr val="D8F0E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719072"/>
            <a:ext cx="12801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</a:rPr>
              <a:t>Serveur NTP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2148840"/>
            <a:ext cx="0" cy="1645920"/>
          </a:xfrm>
          <a:prstGeom prst="line">
            <a:avLst/>
          </a:prstGeom>
          <a:noFill/>
          <a:ln w="12700">
            <a:solidFill>
              <a:srgbClr val="1A6FB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886200" y="2148840"/>
            <a:ext cx="0" cy="1645920"/>
          </a:xfrm>
          <a:prstGeom prst="line">
            <a:avLst/>
          </a:prstGeom>
          <a:noFill/>
          <a:ln w="12700">
            <a:solidFill>
              <a:srgbClr val="1A7A4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96112" y="2148840"/>
            <a:ext cx="128016" cy="128016"/>
          </a:xfrm>
          <a:prstGeom prst="ellipse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10312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FB5"/>
                </a:solidFill>
              </a:rPr>
              <a:t>T1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33272" y="22689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requête envoyée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22192" y="2514600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246888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</a:rPr>
              <a:t>T2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réception serveur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22192" y="2880360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283464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</a:rPr>
              <a:t>T3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40280" y="283464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réponse envoyée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96112" y="3246120"/>
            <a:ext cx="128016" cy="128016"/>
          </a:xfrm>
          <a:prstGeom prst="ellipse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0040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FB5"/>
                </a:solidFill>
              </a:rPr>
              <a:t>T4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24127" y="305409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réception client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60120" y="2212848"/>
            <a:ext cx="2926080" cy="365760"/>
          </a:xfrm>
          <a:prstGeom prst="line">
            <a:avLst/>
          </a:prstGeom>
          <a:noFill/>
          <a:ln w="19050">
            <a:solidFill>
              <a:srgbClr val="1A6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214884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délai d₁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0120" y="3310128"/>
            <a:ext cx="2926080" cy="0"/>
          </a:xfrm>
          <a:prstGeom prst="line">
            <a:avLst/>
          </a:prstGeom>
          <a:noFill/>
          <a:ln w="1905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312724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délai d₂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611880"/>
            <a:ext cx="4206240" cy="68580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611880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délai = ((T4−T1) − (T3−T2)) / 2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 = (T2−T1 + T3−T4) /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1234440"/>
            <a:ext cx="37033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Plusieurs sources 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1417320"/>
            <a:ext cx="370332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robustesse et précision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0" y="1417320"/>
            <a:ext cx="1691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0" y="1417320"/>
            <a:ext cx="73152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9512" y="1453896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GPS local (Stratum 1)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39512" y="172821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source primaire · prefer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12280" y="1700784"/>
            <a:ext cx="41148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2075688"/>
            <a:ext cx="1691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2075688"/>
            <a:ext cx="73152" cy="566928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9512" y="211226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pool.ntp.org #1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39512" y="238658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Stratum 2 · fallback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12280" y="2359152"/>
            <a:ext cx="41148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0640" y="2734056"/>
            <a:ext cx="1691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0640" y="2734056"/>
            <a:ext cx="73152" cy="566928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39512" y="277063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pool.ntp.org #2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39512" y="304495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Stratum 2 · fallback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12280" y="3017520"/>
            <a:ext cx="41148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23760" y="1417320"/>
            <a:ext cx="1600200" cy="2029968"/>
          </a:xfrm>
          <a:prstGeom prst="roundRect">
            <a:avLst>
              <a:gd name="adj" fmla="val 4571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1417320"/>
            <a:ext cx="1600200" cy="20299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34AB7"/>
                </a:solidFill>
              </a:rPr>
              <a:t>Algorithme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34AB7"/>
                </a:solidFill>
              </a:rPr>
              <a:t>sélection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34AB7"/>
                </a:solidFill>
              </a:rPr>
              <a:t>filtrage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34AB7"/>
                </a:solidFill>
              </a:rPr>
              <a:t>pondération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20640" y="3547872"/>
            <a:ext cx="3703320" cy="566928"/>
          </a:xfrm>
          <a:prstGeom prst="rect">
            <a:avLst/>
          </a:prstGeom>
          <a:solidFill>
            <a:srgbClr val="D8F0E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30368" y="3547872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</a:rPr>
              <a:t>Résultat : </a:t>
            </a:r>
            <a:r>
              <a:rPr lang="en-US" sz="1000" dirty="0">
                <a:solidFill>
                  <a:srgbClr val="1E293B"/>
                </a:solidFill>
              </a:rPr>
              <a:t>si une source est défaillante → rejet auto. Repli sur Internet si GPS absent.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0040" y="431596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534AB7">
              <a:alpha val="8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LOGICIEL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Meinberg NTP — le moteur de précision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Pourquoi pas W32Time (Windows natif) ?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W32Time (Windows natif)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Meinberg NTP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 visée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— 5 secondes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signal 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(fudge)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GPS locale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(refclock)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Stratum atteignable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(ntpq)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— intégré à l'app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315468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Extrait ntp.conf — généré automatiquement par l'application 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3371761"/>
            <a:ext cx="8503920" cy="61241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264408"/>
            <a:ext cx="8321040" cy="8046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127.127.20.0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mode 0 prefer
</a:t>
            </a: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fudge 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127.127.20.0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time1 </a:t>
            </a: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0.042</a:t>
            </a: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délai USB calibré automatiquement
</a:t>
            </a: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0.fr.pool.ntp.org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iburst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4163964"/>
            <a:ext cx="8503920" cy="38404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163964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</a:rPr>
              <a:t>L'application configure Meinberg automatiquement — l'utilisateur n'édite jamais ntp.conf à la main.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B87C0F">
              <a:alpha val="8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MATÉRIEL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matériel — 3 composants, moins de 20 €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lang="fr-FR" sz="1000" i="1" dirty="0" smtClean="0">
                <a:solidFill>
                  <a:srgbClr val="64748B"/>
                </a:solidFill>
              </a:rPr>
              <a:t>Boîtier </a:t>
            </a:r>
            <a:r>
              <a:rPr lang="fr-FR" sz="1000" i="1" dirty="0">
                <a:solidFill>
                  <a:srgbClr val="64748B"/>
                </a:solidFill>
              </a:rPr>
              <a:t>de protection recommandé pour une utilisation en extérieur (rosée, humidité</a:t>
            </a:r>
            <a:r>
              <a:rPr lang="fr-FR" sz="1000" i="1" dirty="0" smtClean="0">
                <a:solidFill>
                  <a:srgbClr val="64748B"/>
                </a:solidFill>
              </a:rPr>
              <a:t>)</a:t>
            </a:r>
            <a:r>
              <a:rPr lang="en-US" sz="1000" i="1" dirty="0" smtClean="0">
                <a:solidFill>
                  <a:srgbClr val="64748B"/>
                </a:solidFill>
              </a:rPr>
              <a:t>· </a:t>
            </a:r>
            <a:r>
              <a:rPr lang="en-US" sz="1000" i="1" dirty="0">
                <a:solidFill>
                  <a:srgbClr val="64748B"/>
                </a:solidFill>
              </a:rPr>
              <a:t>Firmware flashable en glisser-déposer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89888"/>
            <a:ext cx="2788920" cy="384048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9888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Microcontrôleur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Waveshare RP2040-Zero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Interface USB · Traitement du signal · Firmware Stratum 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291840"/>
            <a:ext cx="914400" cy="292608"/>
          </a:xfrm>
          <a:prstGeom prst="rect">
            <a:avLst/>
          </a:prstGeom>
          <a:solidFill>
            <a:srgbClr val="B87C0F">
              <a:alpha val="85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918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~4 €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1389888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389888"/>
            <a:ext cx="278892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389888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GPS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8288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u-blox NEO-6M / NEO-8M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233172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NMEA + signal PPS · Antenne intégrée · Fix en &lt; 30 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291840"/>
            <a:ext cx="914400" cy="292608"/>
          </a:xfrm>
          <a:prstGeom prst="rect">
            <a:avLst/>
          </a:prstGeom>
          <a:solidFill>
            <a:srgbClr val="1A7A4A">
              <a:alpha val="85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2918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~8 €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1389888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389888"/>
            <a:ext cx="2788920" cy="384048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389888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Liaison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Câble USB-C Data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233172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Alimentation + données · Port COM virtuel Windows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3291840"/>
            <a:ext cx="914400" cy="292608"/>
          </a:xfrm>
          <a:prstGeom prst="rect">
            <a:avLst/>
          </a:prstGeom>
          <a:solidFill>
            <a:srgbClr val="1A6FB5">
              <a:alpha val="85000"/>
            </a:srgbClr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2918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~2 €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1828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B87C0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49040"/>
            <a:ext cx="1828800" cy="54864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840480"/>
            <a:ext cx="1828800" cy="4274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7C0F"/>
                </a:solidFill>
              </a:rPr>
              <a:t>~14 €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20040" y="4230929"/>
            <a:ext cx="1828800" cy="2720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coût total matériel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31720" y="3749040"/>
            <a:ext cx="1828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3749040"/>
            <a:ext cx="18288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31720" y="3840480"/>
            <a:ext cx="1828800" cy="4274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A4A"/>
                </a:solidFill>
              </a:rPr>
              <a:t>15 min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2331720" y="4230929"/>
            <a:ext cx="1828800" cy="2720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assemblage sans soudure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43400" y="3749040"/>
            <a:ext cx="1828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43400" y="3749040"/>
            <a:ext cx="1828800" cy="54864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3840480"/>
            <a:ext cx="1828800" cy="4274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FB5"/>
                </a:solidFill>
              </a:rPr>
              <a:t>&lt; 1 ms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343400" y="4230929"/>
            <a:ext cx="1828800" cy="2720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précision finale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5080" y="3749040"/>
            <a:ext cx="219456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534AB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3749040"/>
            <a:ext cx="219456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840480"/>
            <a:ext cx="2194560" cy="4274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34AB7"/>
                </a:solidFill>
              </a:rPr>
              <a:t>Stratum 1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355080" y="4230929"/>
            <a:ext cx="2194560" cy="2720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niveau de référence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534AB7">
              <a:alpha val="8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LOGICIEL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 — firmware + application PC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4023360" cy="347472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0789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Firmware RP2040  (C++ / Arduino)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481328"/>
            <a:ext cx="3822192" cy="16093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Reçoit les trames NMEA du GPS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Capture le signal PPS sur GPIO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Algorithme Time Adder : aligne NMEA sur PPS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Expose un port COM USB vers Windows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Flash via drag-and-drop (.uf2)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78992"/>
            <a:ext cx="4343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078992"/>
            <a:ext cx="434340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078992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 PC  (C# .NET / WPF)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0288" y="1481328"/>
            <a:ext cx="4142232" cy="16093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Configure Meinberg NTP automatiquement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Calibration automatique du fudge USB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Monitoring en temps réel : offset, jitter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Analyseur qualité GPS (SNR, HDOP, satellites)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Mode mini widget Always on top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1A7A4A">
              <a:alpha val="85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3101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GPS u-blox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0280" y="3310128"/>
            <a:ext cx="2286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68880" y="3310128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B87C0F">
              <a:alpha val="85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3101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RP2040 Stratum 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3310128"/>
            <a:ext cx="2286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17720" y="3310128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534AB7">
              <a:alpha val="85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3101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Meinberg NTP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3310128"/>
            <a:ext cx="2286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3310128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1A6FB5">
              <a:alpha val="85000"/>
            </a:srgbClr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310128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Horloge PC Stratum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39136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MIT License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96312" y="39136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GitHub Releases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72584" y="39136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v1.3.3 stable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48856" y="39136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Open Source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2793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0CC"/>
                </a:solidFill>
              </a:rPr>
              <a:t>CHAPITRE 2 · PRATIQUE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70999"/>
            <a:ext cx="8412480" cy="1463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425963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E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 matériel à l'installation logicielle — étape par étape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0" y="3674886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3930918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4186950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4112" y="3674886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3930918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54112" y="4186950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10144" y="3674886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0144" y="3930918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4186950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3674886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3930918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4186950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2208" y="3674886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2208" y="3930918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22208" y="4186950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2839829"/>
            <a:ext cx="8412480" cy="1681778"/>
          </a:xfrm>
          <a:prstGeom prst="rect">
            <a:avLst/>
          </a:prstGeom>
          <a:solidFill>
            <a:srgbClr val="1A2E42"/>
          </a:solidFill>
          <a:ln w="25400">
            <a:solidFill>
              <a:srgbClr val="B87C0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89086"/>
            <a:ext cx="109728" cy="1417320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86107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DF0CC"/>
                </a:solidFill>
              </a:rPr>
              <a:t>Documentation complète du projet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305786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B87C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https://fmoreau78470.github.io/Time-Reference-NMEA/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74645" y="2271583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EE8"/>
                </a:solidFill>
              </a:rPr>
              <a:t>Schémas de câblage · Firmware · Installateur · Guide pas à pas</a:t>
            </a:r>
            <a:endParaRPr lang="en-US" sz="1100" dirty="0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119" y="3560786"/>
            <a:ext cx="847772" cy="8477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A6FB5">
              <a:alpha val="80000"/>
            </a:srgbClr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VUE D'ENSEMBLE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 de signal complète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Deux flux complémentaires — NMEA pour l'information, PPS pour la précision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A7A4A">
              <a:alpha val="9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GPS u-blox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NEO-6M / NEO-8M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B87C0F">
              <a:alpha val="9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4630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RP2040-Zero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1737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Firmware Stratum 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534AB7">
              <a:alpha val="9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4630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Meinberg NTP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1737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Service Windows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E6E75">
              <a:alpha val="90000"/>
            </a:srgbClr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4630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App. Time Ref.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737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Calibration &amp; monitoring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1417320"/>
            <a:ext cx="320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51960" y="1417320"/>
            <a:ext cx="320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1417320"/>
            <a:ext cx="320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0040" y="2423160"/>
            <a:ext cx="8503920" cy="0"/>
          </a:xfrm>
          <a:prstGeom prst="line">
            <a:avLst/>
          </a:prstGeom>
          <a:noFill/>
          <a:ln w="25400">
            <a:solidFill>
              <a:srgbClr val="1A6F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468880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FB5"/>
                </a:solidFill>
              </a:rPr>
              <a:t>Flux NMEA — trames texte horodatées (1/seconde)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270662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FB5"/>
                </a:solidFill>
              </a:rPr>
              <a:t>GPRMC : heure + date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31720" y="270662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FB5"/>
                </a:solidFill>
              </a:rPr>
              <a:t>parsing + bufferisation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0" y="270662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FB5"/>
                </a:solidFill>
              </a:rPr>
              <a:t>refclock série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270662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6FB5"/>
                </a:solidFill>
              </a:rPr>
              <a:t>monitoring ntpq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154680"/>
            <a:ext cx="4160520" cy="0"/>
          </a:xfrm>
          <a:prstGeom prst="line">
            <a:avLst/>
          </a:prstGeom>
          <a:noFill/>
          <a:ln w="25400">
            <a:solidFill>
              <a:srgbClr val="B87C0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20040" y="32004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C0F"/>
                </a:solidFill>
              </a:rPr>
              <a:t>Flux PPS — impulsion physique 1 Hz (précision &lt; 1 µs)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343814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7C0F"/>
                </a:solidFill>
              </a:rPr>
              <a:t>signal GPIO direct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31720" y="343814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7C0F"/>
                </a:solidFill>
              </a:rPr>
              <a:t>alignement sur NMEA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0" y="343814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7C0F"/>
                </a:solidFill>
              </a:rPr>
              <a:t>fudge USB compensé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794760"/>
            <a:ext cx="8503920" cy="594360"/>
          </a:xfrm>
          <a:prstGeom prst="rect">
            <a:avLst/>
          </a:prstGeom>
          <a:solidFill>
            <a:srgbClr val="D8F0E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947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</a:rPr>
              <a:t>Résultat : </a:t>
            </a:r>
            <a:r>
              <a:rPr lang="en-US" sz="1300" dirty="0">
                <a:solidFill>
                  <a:srgbClr val="1E293B"/>
                </a:solidFill>
              </a:rPr>
              <a:t>horloge PC disciplinée à &lt; 1 ms — Stratum 1 — 100 % hors-ligne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B87C0F">
              <a:alpha val="8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MATÉRIEL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matériel — 3 composants, moins de 20 €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Pas de boîtier obligatoire · Firmware flashable en glisser-déposer · Attention au choix du module GPS (voir slide suivant)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89888"/>
            <a:ext cx="2788920" cy="384048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9888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Microcontrôleur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Waveshare RP2040-Zero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Interface USB · Traitement du signal · Firmware Stratum 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770632"/>
            <a:ext cx="914400" cy="292608"/>
          </a:xfrm>
          <a:prstGeom prst="rect">
            <a:avLst/>
          </a:prstGeom>
          <a:solidFill>
            <a:srgbClr val="B87C0F">
              <a:alpha val="85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7063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~4 €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389888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389888"/>
            <a:ext cx="278892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389888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GPS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8288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u-blox NEO-6M ou NEO-8M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33172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NMEA + signal PPS · Antenne intégrée · Fix en &lt; 30 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770632"/>
            <a:ext cx="914400" cy="292608"/>
          </a:xfrm>
          <a:prstGeom prst="rect">
            <a:avLst/>
          </a:prstGeom>
          <a:solidFill>
            <a:srgbClr val="1A7A4A">
              <a:alpha val="85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77063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~5-12 €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389888"/>
            <a:ext cx="2788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389888"/>
            <a:ext cx="2788920" cy="384048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389888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Liaison PC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Câble USB-C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2331720"/>
            <a:ext cx="260604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Alimentation + données · Port COM virtuel Windows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2770632"/>
            <a:ext cx="914400" cy="292608"/>
          </a:xfrm>
          <a:prstGeom prst="rect">
            <a:avLst/>
          </a:prstGeom>
          <a:solidFill>
            <a:srgbClr val="1A6FB5">
              <a:alpha val="85000"/>
            </a:srgbClr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77063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~2 €</a:t>
            </a:r>
            <a:endParaRPr lang="en-US" sz="12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91" y="3338595"/>
            <a:ext cx="8503920" cy="1325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B87C0F">
              <a:alpha val="8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MATÉRIEL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Câblage — attention au choix du module GPS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Le critère décisif n'est pas le modèle, mais la présence d'une broche PPS accessible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53312"/>
            <a:ext cx="402336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3533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✔  Broche PPS exposée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755648"/>
            <a:ext cx="3822192" cy="1289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Connexion directe par fil dupont — pas de soudure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Certains NEO-8M de qualité (vérifier la fiche technique)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Connexions : TX→RX, PPS→GPIO, VCC, GND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353312"/>
            <a:ext cx="4343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353312"/>
            <a:ext cx="4343400" cy="347472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353312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Pas de broche PPS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0288" y="1755648"/>
            <a:ext cx="4142232" cy="1289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NEO-6M bas coût ET certains NEO-8M bas coût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Soudure sur pastille interne — fer fin requis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Résultat identique si soudure réussie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174236"/>
            <a:ext cx="8503920" cy="365760"/>
          </a:xfrm>
          <a:prstGeom prst="rect">
            <a:avLst/>
          </a:prstGeom>
          <a:solidFill>
            <a:srgbClr val="FDF0CC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7423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C0F"/>
                </a:solidFill>
              </a:rPr>
              <a:t>Conseil : </a:t>
            </a:r>
            <a:r>
              <a:rPr lang="en-US" sz="1000" dirty="0">
                <a:solidFill>
                  <a:srgbClr val="1E293B"/>
                </a:solidFill>
              </a:rPr>
              <a:t>NEO-8M recommandé (meilleure sensibilité, fix plus rapide). Vérifier la présence de la broche PPS avant commande.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780" y="2391156"/>
            <a:ext cx="4926080" cy="1417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" y="3808476"/>
            <a:ext cx="850392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Photo : montage réel — antenne GPS · NEO-6M (cercle rouge = point de soudure PPS) · fils de câblage · RP2040-Zero + USB-C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534AB7">
              <a:alpha val="8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INSTALLATION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logicielle — 3 étapes, c'est tout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Un seul installateur embarque toutes les bibliothèques — aucun prérequis, aucune configuration manuelle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43000" y="1389888"/>
            <a:ext cx="502920" cy="502920"/>
          </a:xfrm>
          <a:prstGeom prst="ellipse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3898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20240"/>
            <a:ext cx="2743200" cy="384048"/>
          </a:xfrm>
          <a:prstGeom prst="rect">
            <a:avLst/>
          </a:prstGeom>
          <a:solidFill>
            <a:srgbClr val="1A6FB5">
              <a:alpha val="90000"/>
            </a:srgbClr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2024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Installer Meinberg NTP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340864"/>
            <a:ext cx="2523744" cy="2103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Télécharger </a:t>
            </a:r>
            <a:r>
              <a:rPr lang="en-US" sz="1000" dirty="0" err="1">
                <a:solidFill>
                  <a:srgbClr val="1E293B"/>
                </a:solidFill>
              </a:rPr>
              <a:t>depuis</a:t>
            </a:r>
            <a:r>
              <a:rPr lang="en-US" sz="1000" dirty="0">
                <a:solidFill>
                  <a:srgbClr val="1E293B"/>
                </a:solidFill>
              </a:rPr>
              <a:t> https://www.meinbergglobal.com/english/sw/ntp.htm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smtClean="0">
                <a:solidFill>
                  <a:srgbClr val="1E293B"/>
                </a:solidFill>
              </a:rPr>
              <a:t>Installation </a:t>
            </a:r>
            <a:r>
              <a:rPr lang="en-US" sz="1000" dirty="0" err="1" smtClean="0">
                <a:solidFill>
                  <a:srgbClr val="1E293B"/>
                </a:solidFill>
              </a:rPr>
              <a:t>en</a:t>
            </a:r>
            <a:r>
              <a:rPr lang="en-US" sz="1000" dirty="0" smtClean="0">
                <a:solidFill>
                  <a:srgbClr val="1E293B"/>
                </a:solidFill>
              </a:rPr>
              <a:t> mode </a:t>
            </a:r>
            <a:r>
              <a:rPr lang="en-US" sz="1000" dirty="0" err="1" smtClean="0">
                <a:solidFill>
                  <a:srgbClr val="1E293B"/>
                </a:solidFill>
              </a:rPr>
              <a:t>administrateur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 smtClean="0">
                <a:solidFill>
                  <a:srgbClr val="1E293B"/>
                </a:solidFill>
              </a:rPr>
              <a:t>Laisser</a:t>
            </a:r>
            <a:r>
              <a:rPr lang="en-US" sz="1000" dirty="0" smtClean="0">
                <a:solidFill>
                  <a:srgbClr val="1E293B"/>
                </a:solidFill>
              </a:rPr>
              <a:t> </a:t>
            </a:r>
            <a:r>
              <a:rPr lang="en-US" sz="1000" dirty="0" err="1" smtClean="0">
                <a:solidFill>
                  <a:srgbClr val="1E293B"/>
                </a:solidFill>
              </a:rPr>
              <a:t>toutes</a:t>
            </a:r>
            <a:r>
              <a:rPr lang="en-US" sz="1000" dirty="0" smtClean="0">
                <a:solidFill>
                  <a:srgbClr val="1E293B"/>
                </a:solidFill>
              </a:rPr>
              <a:t> les option par </a:t>
            </a:r>
            <a:r>
              <a:rPr lang="en-US" sz="1000" dirty="0" err="1" smtClean="0">
                <a:solidFill>
                  <a:srgbClr val="1E293B"/>
                </a:solidFill>
              </a:rPr>
              <a:t>défaut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Aucune configuration manuelle requise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69080" y="1389888"/>
            <a:ext cx="502920" cy="502920"/>
          </a:xfrm>
          <a:prstGeom prst="ellipse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13898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46120" y="192024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920240"/>
            <a:ext cx="2743200" cy="384048"/>
          </a:xfrm>
          <a:prstGeom prst="rect">
            <a:avLst/>
          </a:prstGeom>
          <a:solidFill>
            <a:srgbClr val="B87C0F">
              <a:alpha val="9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92024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Flasher le firmware RP2040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340864"/>
            <a:ext cx="2523744" cy="2103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Brancher le RP2040 en maintenant le bouton BOOT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Le PC le reconnaît comme une clé USB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Glisser-déposer le fichier .uf2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Le module redémarre automatiquement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1389888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3898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72200" y="192024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920240"/>
            <a:ext cx="2743200" cy="384048"/>
          </a:xfrm>
          <a:prstGeom prst="rect">
            <a:avLst/>
          </a:prstGeom>
          <a:solidFill>
            <a:srgbClr val="1A7A4A">
              <a:alpha val="9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92024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Lancer l'installateur Time Reference NMEA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81928" y="2340864"/>
            <a:ext cx="2523744" cy="2103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Toutes les bibliothèques incluses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Détection automatique du port COM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Configuration de Meinberg générée automatiquement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Prêt à fonctionner en moins de 2 minutes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0CC"/>
                </a:solidFill>
              </a:rPr>
              <a:t>CHAPITRE 3 · UTILISATION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463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&amp; IHM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E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Interface, séquence de démarrage et étalonnage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0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4112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54112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10144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0144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2208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2208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22208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E6E75"/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E6E75">
              <a:alpha val="80000"/>
            </a:srgbClr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UTILISATION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principale — NMEA Controller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Toutes les informations essentielles en un coup d'œil — Score de santé, heure GPS/système, métriques NTP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35" y="1280160"/>
            <a:ext cx="1991360" cy="35844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06040" y="1572768"/>
            <a:ext cx="365760" cy="0"/>
          </a:xfrm>
          <a:prstGeom prst="line">
            <a:avLst/>
          </a:prstGeom>
          <a:noFill/>
          <a:ln w="12700">
            <a:solidFill>
              <a:srgbClr val="1A7A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71800" y="1389888"/>
            <a:ext cx="5852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71800" y="1389888"/>
            <a:ext cx="1371600" cy="566928"/>
          </a:xfrm>
          <a:prstGeom prst="rect">
            <a:avLst/>
          </a:prstGeom>
          <a:solidFill>
            <a:srgbClr val="1A7A4A">
              <a:alpha val="85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99232" y="1389888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Horloges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389120" y="1389888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Heure système (Windows) vs heure GPS — comparaison en temps réel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606040" y="2267712"/>
            <a:ext cx="365760" cy="0"/>
          </a:xfrm>
          <a:prstGeom prst="line">
            <a:avLst/>
          </a:prstGeom>
          <a:noFill/>
          <a:ln w="12700">
            <a:solidFill>
              <a:srgbClr val="1A7A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1800" y="2084832"/>
            <a:ext cx="5852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71800" y="2084832"/>
            <a:ext cx="1371600" cy="566928"/>
          </a:xfrm>
          <a:prstGeom prst="rect">
            <a:avLst/>
          </a:prstGeom>
          <a:solidFill>
            <a:srgbClr val="1A7A4A">
              <a:alpha val="85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99232" y="2084832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Score de santé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389120" y="208483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Indicateur global 0–100% : vert &gt; 90%, orange 50–90%, rouge &lt; 50%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606040" y="2971800"/>
            <a:ext cx="365760" cy="0"/>
          </a:xfrm>
          <a:prstGeom prst="line">
            <a:avLst/>
          </a:prstGeom>
          <a:noFill/>
          <a:ln w="12700">
            <a:solidFill>
              <a:srgbClr val="B87C0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71800" y="2788920"/>
            <a:ext cx="5852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71800" y="2788920"/>
            <a:ext cx="1371600" cy="566928"/>
          </a:xfrm>
          <a:prstGeom prst="rect">
            <a:avLst/>
          </a:prstGeom>
          <a:solidFill>
            <a:srgbClr val="B87C0F">
              <a:alpha val="85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99232" y="2788920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Offset &amp; Jitter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389120" y="2788920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Écart résiduel avec la référence (idéalement &lt; 2 ms) et stabilité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606040" y="3675888"/>
            <a:ext cx="365760" cy="0"/>
          </a:xfrm>
          <a:prstGeom prst="line">
            <a:avLst/>
          </a:prstGeom>
          <a:noFill/>
          <a:ln w="12700">
            <a:solidFill>
              <a:srgbClr val="534AB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71800" y="3493008"/>
            <a:ext cx="5852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71800" y="3493008"/>
            <a:ext cx="1371600" cy="566928"/>
          </a:xfrm>
          <a:prstGeom prst="rect">
            <a:avLst/>
          </a:prstGeom>
          <a:solidFill>
            <a:srgbClr val="534AB7">
              <a:alpha val="85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99232" y="3493008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Service NTP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389120" y="3493008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État du service Meinberg — Démarré / Arrêté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606040" y="4389120"/>
            <a:ext cx="365760" cy="0"/>
          </a:xfrm>
          <a:prstGeom prst="line">
            <a:avLst/>
          </a:prstGeom>
          <a:noFill/>
          <a:ln w="12700">
            <a:solidFill>
              <a:srgbClr val="0E6E7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971800" y="4206240"/>
            <a:ext cx="5852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971800" y="4206240"/>
            <a:ext cx="1371600" cy="566928"/>
          </a:xfrm>
          <a:prstGeom prst="rect">
            <a:avLst/>
          </a:prstGeom>
          <a:solidFill>
            <a:srgbClr val="0E6E75">
              <a:alpha val="85000"/>
            </a:srgbClr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99232" y="4206240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Boutons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389120" y="4206240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Paramètres · Calibration · Signal GPS · Sources NTP · Mode Mini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E6E75"/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E6E75">
              <a:alpha val="80000"/>
            </a:srgbClr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UTILISATION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— fenêtre Paramètres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Première configuration à effectuer au lancement — l'application génère ensuite ntp.conf automatiquement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1353312"/>
          <a:ext cx="5486400" cy="3200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Champ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Valeur recommandée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Port Série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Port COM virtuel du RP2040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COMx (voir Gestionnaire de périph.)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Vitesse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Vitesse série du module GPS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9600 bauds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Compensation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Délai matériel USB à corriger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0.000 → ajusté par l'étalonnage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Serveurs NTP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Pool Internet — fallback et étalonnage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fr.pool.ntp.org (0 à 3)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Chemin ntp.conf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Fichier de config Meinberg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C:\Program Files (x86)\NTP\etc\ntp.conf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337560" y="4617720"/>
            <a:ext cx="5486400" cy="457200"/>
          </a:xfrm>
          <a:prstGeom prst="rect">
            <a:avLst/>
          </a:prstGeom>
          <a:solidFill>
            <a:srgbClr val="D8F0E4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29000" y="461772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</a:rPr>
              <a:t>→ Cliquer Enregistrer : </a:t>
            </a:r>
            <a:r>
              <a:rPr lang="en-US" sz="1000" dirty="0">
                <a:solidFill>
                  <a:srgbClr val="1E293B"/>
                </a:solidFill>
              </a:rPr>
              <a:t>ntp.conf optimisé généré automatiquement, service NTP redémarré.</a:t>
            </a:r>
            <a:endParaRPr lang="en-US" sz="10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77" y="1353312"/>
            <a:ext cx="2542646" cy="3721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E6E75"/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E6E75">
              <a:alpha val="80000"/>
            </a:srgbClr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UTILISATION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 de démarrage — ce que l'utilisateur voit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Du branchement USB à la synchronisation stable : environ 2 à 5 minutes selon le fix GPS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920240"/>
            <a:ext cx="274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389888"/>
            <a:ext cx="502920" cy="502920"/>
          </a:xfrm>
          <a:prstGeom prst="ellipse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898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01952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1A6FB5">
              <a:alpha val="80000"/>
            </a:srgbClr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01952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 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18745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12848"/>
            <a:ext cx="1874520" cy="347472"/>
          </a:xfrm>
          <a:prstGeom prst="rect">
            <a:avLst/>
          </a:prstGeom>
          <a:solidFill>
            <a:srgbClr val="1A6FB5">
              <a:alpha val="90000"/>
            </a:srgbClr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21284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Branchement USB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596896"/>
            <a:ext cx="1719072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Brancher le module RP2040 au PC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Windows reconnaît un port COM (COMx)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L'application détecte le port automatiquement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25112" y="1920240"/>
            <a:ext cx="274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1389888"/>
            <a:ext cx="502920" cy="5029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13898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862072" y="1901952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1A7A4A">
              <a:alpha val="8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62072" y="1901952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30 s – 2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50592" y="2212848"/>
            <a:ext cx="18745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50592" y="2212848"/>
            <a:ext cx="1874520" cy="347472"/>
          </a:xfrm>
          <a:prstGeom prst="rect">
            <a:avLst/>
          </a:prstGeom>
          <a:solidFill>
            <a:srgbClr val="1A7A4A">
              <a:alpha val="9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221284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Acquisition fix GPS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42032" y="2596896"/>
            <a:ext cx="1719072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Le module cherche les satellites (cold start)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L'IHM affiche le nombre de sats et le SNR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Fix 3D acquis : l'heure UTC est disponible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01384" y="1920240"/>
            <a:ext cx="274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232" y="1389888"/>
            <a:ext cx="502920" cy="50292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13898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38344" y="1901952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534AB7">
              <a:alpha val="8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8344" y="1901952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 – 3 min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26864" y="2212848"/>
            <a:ext cx="18745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2212848"/>
            <a:ext cx="1874520" cy="347472"/>
          </a:xfrm>
          <a:prstGeom prst="rect">
            <a:avLst/>
          </a:prstGeom>
          <a:solidFill>
            <a:srgbClr val="534AB7">
              <a:alpha val="9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221284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Synchronisation NTP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18304" y="2596896"/>
            <a:ext cx="1719072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Meinberg ingère les trames NMEA + PPS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L'offset diminue progressivement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Stratum passe à 1 quand la source est validée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61504" y="1389888"/>
            <a:ext cx="502920" cy="502920"/>
          </a:xfrm>
          <a:prstGeom prst="ellipse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61504" y="13898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214616" y="1901952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B87C0F">
              <a:alpha val="8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14616" y="1901952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stable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03136" y="2212848"/>
            <a:ext cx="18745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03136" y="2212848"/>
            <a:ext cx="1874520" cy="347472"/>
          </a:xfrm>
          <a:prstGeom prst="rect">
            <a:avLst/>
          </a:prstGeom>
          <a:solidFill>
            <a:srgbClr val="B87C0F">
              <a:alpha val="9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221284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Stabilisation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94576" y="2596896"/>
            <a:ext cx="1719072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Offset &lt; 1 ms atteint et maintenu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La compensation est auto-calibrée si besoin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Système prêt pour l'observation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E6E75"/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E6E75">
              <a:alpha val="80000"/>
            </a:srgbClr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ÉTALONNAGE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466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Étalonnage de la compensation — assistant intégré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Une seule fois par assemblage (PC + câble USB + GPS) — l'assistant compare le GPS aux serveurs Internet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76" y="1408176"/>
            <a:ext cx="4906056" cy="362293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89632" y="1591056"/>
            <a:ext cx="274320" cy="0"/>
          </a:xfrm>
          <a:prstGeom prst="line">
            <a:avLst/>
          </a:prstGeom>
          <a:noFill/>
          <a:ln w="12700">
            <a:solidFill>
              <a:srgbClr val="1A7A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63952" y="1389888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63952" y="1389888"/>
            <a:ext cx="73152" cy="6217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2824" y="140817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</a:rPr>
              <a:t>Courbe GPS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82824" y="166420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Offset mesuré du GPS (vert) — médiane en gras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689632" y="2350008"/>
            <a:ext cx="274320" cy="0"/>
          </a:xfrm>
          <a:prstGeom prst="line">
            <a:avLst/>
          </a:prstGeom>
          <a:noFill/>
          <a:ln w="12700">
            <a:solidFill>
              <a:srgbClr val="0E6E7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63952" y="2148840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63952" y="2148840"/>
            <a:ext cx="73152" cy="621792"/>
          </a:xfrm>
          <a:prstGeom prst="rect">
            <a:avLst/>
          </a:prstGeom>
          <a:solidFill>
            <a:srgbClr val="0E6E75"/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2824" y="216712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0E6E75"/>
                </a:solidFill>
              </a:rPr>
              <a:t>Courbe Internet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082824" y="24231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Offset Internet (cyan) — référence absolue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89632" y="3108960"/>
            <a:ext cx="274320" cy="0"/>
          </a:xfrm>
          <a:prstGeom prst="line">
            <a:avLst/>
          </a:prstGeom>
          <a:noFill/>
          <a:ln w="12700">
            <a:solidFill>
              <a:srgbClr val="B87C0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63952" y="2907792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63952" y="2907792"/>
            <a:ext cx="73152" cy="621792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2824" y="29260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B87C0F"/>
                </a:solidFill>
              </a:rPr>
              <a:t>Convergence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82824" y="318211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Les deux médianes convergent — étalonnage fiable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689632" y="3858768"/>
            <a:ext cx="274320" cy="0"/>
          </a:xfrm>
          <a:prstGeom prst="line">
            <a:avLst/>
          </a:prstGeom>
          <a:noFill/>
          <a:ln w="12700">
            <a:solidFill>
              <a:srgbClr val="534AB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63952" y="3657600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63952" y="3657600"/>
            <a:ext cx="73152" cy="6217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2824" y="367588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534AB7"/>
                </a:solidFill>
              </a:rPr>
              <a:t>ntpq en direct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082824" y="39319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Sources NTP affichées en temps réel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689632" y="4608576"/>
            <a:ext cx="274320" cy="0"/>
          </a:xfrm>
          <a:prstGeom prst="line">
            <a:avLst/>
          </a:prstGeom>
          <a:noFill/>
          <a:ln w="12700">
            <a:solidFill>
              <a:srgbClr val="1A6FB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63952" y="4407408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63952" y="4407408"/>
            <a:ext cx="73152" cy="621792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82824" y="442569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1A6FB5"/>
                </a:solidFill>
              </a:rPr>
              <a:t>Journaux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082824" y="468172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Trace des étapes : isolation GPS, sync Internet, calcul médiane</a:t>
            </a:r>
            <a:endParaRPr lang="en-US" sz="800" dirty="0"/>
          </a:p>
        </p:txBody>
      </p:sp>
      <p:sp>
        <p:nvSpPr>
          <p:cNvPr id="34" name="Rectangle 1"/>
          <p:cNvSpPr>
            <a:spLocks noChangeArrowheads="1"/>
          </p:cNvSpPr>
          <p:nvPr/>
        </p:nvSpPr>
        <p:spPr bwMode="auto">
          <a:xfrm>
            <a:off x="383193" y="526333"/>
            <a:ext cx="70871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Le trajet du signal PPS jusqu'à Windows introduit un retard cumulé propre à chaque assemblage.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L'étalonnage le mesure une fois pour toutes et l'inscrit automatiquement dans </a:t>
            </a:r>
            <a:r>
              <a:rPr kumimoji="0" lang="fr-FR" altLang="fr-FR" sz="1000" b="0" i="1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Meinberg</a:t>
            </a:r>
            <a:r>
              <a:rPr kumimoji="0" lang="fr-FR" altLang="fr-FR" sz="10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— l'offset tombe alors sous la milliseconde.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E6E75"/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E6E75">
              <a:alpha val="80000"/>
            </a:srgbClr>
          </a:solidFill>
          <a:ln w="12700">
            <a:solidFill>
              <a:srgbClr val="0E6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OUTILS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avancés — Sources NTP &amp; Qualité signal GPS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Deux fenêtres de diagnostic pour vérifier la synchronisation et la qualité de réception satellite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Sources NTP (ntpq -p) — diagnostic des serveurs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91640"/>
            <a:ext cx="5059482" cy="143222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92140" y="1697459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37860" y="1697459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*  Source active (System Peer)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200900" y="1697459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46620" y="1697459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+  Candidate — prête à prendre le relais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692140" y="2136371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37860" y="2136371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−  Écartée par l'algorithme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200900" y="2136371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6620" y="2136371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x  Rejetée (faux ticker)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65760" y="3108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Qualité Signal GPS — jauges SNR / HDOP / Satellites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44" y="3383280"/>
            <a:ext cx="1261573" cy="153324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2377440" y="3419856"/>
            <a:ext cx="6492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77440" y="3419856"/>
            <a:ext cx="73152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14600" y="3419856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SCORE : note globale pondérée (0–100%). &gt; 90% = vert optimal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377440" y="3813048"/>
            <a:ext cx="6492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377440" y="3813048"/>
            <a:ext cx="73152" cy="347472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14600" y="3813048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SNR &gt; 30 dB vert · 20-30 orange · &lt; 20 rouge (signal faible)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377440" y="4206240"/>
            <a:ext cx="6492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377440" y="4206240"/>
            <a:ext cx="73152" cy="347472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514600" y="4206240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HDOP &lt; 2.0 idéal · 2-5 acceptable · &gt; 5 mauvais (ciel obstrué)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2377440" y="4599432"/>
            <a:ext cx="6492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377440" y="4599432"/>
            <a:ext cx="73152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514600" y="4599432"/>
            <a:ext cx="630936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SATS &gt; 8 vert · 4-8 minimum vital · &lt; 4 insuffisant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7C0F"/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F0CC"/>
                </a:solidFill>
              </a:rPr>
              <a:t>GITHUB · DOCUMENTATION · KO-FI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1463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537460"/>
            <a:ext cx="8156448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 err="1" smtClean="0">
                <a:solidFill>
                  <a:srgbClr val="CADE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Une</a:t>
            </a:r>
            <a:r>
              <a:rPr lang="en-US" sz="1800" i="1" dirty="0" smtClean="0">
                <a:solidFill>
                  <a:srgbClr val="CADE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800" i="1" dirty="0" err="1" smtClean="0">
                <a:solidFill>
                  <a:srgbClr val="CADE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réference</a:t>
            </a:r>
            <a:r>
              <a:rPr lang="en-US" sz="1800" i="1" dirty="0" smtClean="0">
                <a:solidFill>
                  <a:srgbClr val="CADE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temps de </a:t>
            </a:r>
            <a:r>
              <a:rPr lang="en-US" sz="1800" i="1" dirty="0">
                <a:solidFill>
                  <a:srgbClr val="CADE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précision pour moins de 20 €, autonome, open source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0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4112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54112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10144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0144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2208" y="4114800"/>
            <a:ext cx="73152" cy="73152"/>
          </a:xfrm>
          <a:prstGeom prst="ellipse">
            <a:avLst/>
          </a:prstGeom>
          <a:solidFill>
            <a:srgbClr val="B87C0F">
              <a:alpha val="4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2208" y="4370832"/>
            <a:ext cx="73152" cy="73152"/>
          </a:xfrm>
          <a:prstGeom prst="ellipse">
            <a:avLst/>
          </a:prstGeom>
          <a:solidFill>
            <a:srgbClr val="B87C0F">
              <a:alpha val="3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22208" y="4626864"/>
            <a:ext cx="73152" cy="73152"/>
          </a:xfrm>
          <a:prstGeom prst="ellipse">
            <a:avLst/>
          </a:prstGeom>
          <a:solidFill>
            <a:srgbClr val="B87C0F">
              <a:alpha val="2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5760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github.com/fmoreau78470/</a:t>
            </a:r>
            <a:r>
              <a:rPr lang="en-US" sz="1200" b="1" dirty="0">
                <a:solidFill>
                  <a:srgbClr val="B87C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Time-Reference-NMEA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fmoreau78470.github.io/Time-Reference-NMEA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Ko-fi : ko-fi.com/francismoreau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1737360" cy="347472"/>
          </a:xfrm>
          <a:prstGeom prst="roundRect">
            <a:avLst>
              <a:gd name="adj" fmla="val 18421"/>
            </a:avLst>
          </a:prstGeom>
          <a:solidFill>
            <a:srgbClr val="1A7A4A">
              <a:alpha val="8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52628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GPS + PPS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0" y="4526280"/>
            <a:ext cx="1737360" cy="347472"/>
          </a:xfrm>
          <a:prstGeom prst="roundRect">
            <a:avLst>
              <a:gd name="adj" fmla="val 18421"/>
            </a:avLst>
          </a:prstGeom>
          <a:solidFill>
            <a:srgbClr val="1A6FB5">
              <a:alpha val="80000"/>
            </a:srgbClr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452628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Stratum 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4526280"/>
            <a:ext cx="1737360" cy="347472"/>
          </a:xfrm>
          <a:prstGeom prst="roundRect">
            <a:avLst>
              <a:gd name="adj" fmla="val 18421"/>
            </a:avLst>
          </a:prstGeom>
          <a:solidFill>
            <a:srgbClr val="B87C0F">
              <a:alpha val="80000"/>
            </a:srgbClr>
          </a:solidFill>
          <a:ln w="12700">
            <a:solidFill>
              <a:srgbClr val="B87C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452628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 1 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526280"/>
            <a:ext cx="1737360" cy="347472"/>
          </a:xfrm>
          <a:prstGeom prst="roundRect">
            <a:avLst>
              <a:gd name="adj" fmla="val 18421"/>
            </a:avLst>
          </a:prstGeom>
          <a:solidFill>
            <a:srgbClr val="534AB7">
              <a:alpha val="8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52628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Open source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1888</Words>
  <Application>Microsoft Office PowerPoint</Application>
  <PresentationFormat>Affichage à l'écran (16:9)</PresentationFormat>
  <Paragraphs>356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Reference NMEA</dc:title>
  <dc:subject>PptxGenJS Presentation</dc:subject>
  <dc:creator>Francis Moreau</dc:creator>
  <cp:lastModifiedBy>Francis</cp:lastModifiedBy>
  <cp:revision>7</cp:revision>
  <dcterms:created xsi:type="dcterms:W3CDTF">2026-06-05T11:47:21Z</dcterms:created>
  <dcterms:modified xsi:type="dcterms:W3CDTF">2026-06-05T21:20:23Z</dcterms:modified>
</cp:coreProperties>
</file>